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05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6512" y="1798290"/>
            <a:ext cx="41113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World Association Lab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69085" y="2297981"/>
            <a:ext cx="4606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Interaktivni dizajn — Završna prezentacija projekta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696519" y="2732038"/>
            <a:ext cx="4951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Interaktivna igra za povezivanje riječi, logiku i napredovanje korisnika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96519" y="3118321"/>
            <a:ext cx="4951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  Šabović Danilo 22 / 23 D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197E0-5389-5DCD-0D30-543555C4A8AD}"/>
              </a:ext>
            </a:extLst>
          </p:cNvPr>
          <p:cNvSpPr/>
          <p:nvPr/>
        </p:nvSpPr>
        <p:spPr>
          <a:xfrm>
            <a:off x="3429001" y="4849504"/>
            <a:ext cx="5880798" cy="4958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713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Motivacija i problem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2695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Digitalno okruženje nudi mnogo pasivnog sadržaja, ali malo aplikacija koje aktivno razvijaju kognitivne sposobnosti korisnika kroz igru.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940049"/>
            <a:ext cx="4722763" cy="1308571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06069" y="1940049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4143077" y="210085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43077" y="2407369"/>
            <a:ext cx="43439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Korisnicima nedostaju zanimljive, edukativne igre koje razvijaju logiku, asocijacije i kritičko mišljenje — a istovremeno su zabavne.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25119" y="3390379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06069" y="3390379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143077" y="35511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Rješenje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43077" y="3857699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Association Lab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spaja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mentalni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izazov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zabavu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</a:t>
            </a: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modernu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platform</a:t>
            </a: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igra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postaje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za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razvoj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0E41A-26F7-A51F-21D4-74B5A182DAD3}"/>
              </a:ext>
            </a:extLst>
          </p:cNvPr>
          <p:cNvSpPr/>
          <p:nvPr/>
        </p:nvSpPr>
        <p:spPr>
          <a:xfrm>
            <a:off x="7883856" y="4778647"/>
            <a:ext cx="1433015" cy="418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97"/>
            <a:ext cx="64810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Ciljna grupa i istraživanje korisnika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14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 su naši korisnici?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72369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157236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1935584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Traže intelektualne izazove i edukativne sadržaje u slobodno vrijeme.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72730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7658" y="26727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Ljubitelji kvizova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27658" y="3035945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Cijene logičke igre, takmičarski element i dnevne izazove.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773091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37730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Korisnici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sr-Latn-ME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motivisani napretkom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27658" y="4136306"/>
            <a:ext cx="35443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Pokre</a:t>
            </a: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ću ih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XP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rang list</a:t>
            </a: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osjećaj</a:t>
            </a: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postignuća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49701" y="1191444"/>
            <a:ext cx="2286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Šta su korisnici rekli?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749701" y="155465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Provedeni su intervjui i analiza korisničkih zahtjeva. Ključni nalazi: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749701" y="213583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Jednostavan i intuitivan interfejs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Više tipova igara i kategorija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Vidljiv progres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istorija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rezultata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sr-Latn-ME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Dnevni izazovi za stalnu motivaciju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Takmičarski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element — rang </a:t>
            </a:r>
            <a:r>
              <a:rPr lang="en-US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9D81E0-E588-F967-4848-8AC9B73C66B6}"/>
              </a:ext>
            </a:extLst>
          </p:cNvPr>
          <p:cNvSpPr/>
          <p:nvPr/>
        </p:nvSpPr>
        <p:spPr>
          <a:xfrm>
            <a:off x="8015785" y="4731224"/>
            <a:ext cx="1269242" cy="6459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86358"/>
            <a:ext cx="431921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Ključni korisnički zahtjevi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4132" y="990972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2868" y="11197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187" y="1221953"/>
            <a:ext cx="167432" cy="167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868" y="160027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Registracija i prijava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2868" y="1859235"/>
            <a:ext cx="42833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Sigurno korisničko upravljanje računima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6248" y="990972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984" y="11197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7304" y="1221953"/>
            <a:ext cx="167432" cy="167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984" y="160027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Više tipova igara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984" y="1859235"/>
            <a:ext cx="42833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Raznovrsni modovi za različite stilove igranja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34132" y="228250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2868" y="24112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187" y="2513484"/>
            <a:ext cx="167432" cy="1674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868" y="28918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Dnevni izazov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2868" y="3150766"/>
            <a:ext cx="42833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Svakodnevni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sadržaj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koji po</a:t>
            </a:r>
            <a:r>
              <a:rPr lang="sr-Latn-ME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dstiče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redov</a:t>
            </a:r>
            <a:r>
              <a:rPr lang="sr-Latn-ME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</a:t>
            </a:r>
            <a:r>
              <a:rPr lang="en-US" sz="9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upotrebu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6248" y="228250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4984" y="24112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7304" y="2513484"/>
            <a:ext cx="167432" cy="1674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4984" y="28918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sr-Latn-ME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r>
              <a:rPr lang="en-US" sz="1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storija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 napredak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984" y="3150766"/>
            <a:ext cx="42833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Pregled rezultata i praćenje razvoja korisnika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34132" y="357403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2868" y="370276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187" y="3805014"/>
            <a:ext cx="167432" cy="1674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2868" y="418333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 lista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62868" y="4442296"/>
            <a:ext cx="42833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Takmičarski element koji </a:t>
            </a:r>
            <a:r>
              <a:rPr lang="en-US" sz="9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</a:t>
            </a:r>
            <a:r>
              <a:rPr lang="sr-Latn-ME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iše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korisnike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6248" y="3574033"/>
            <a:ext cx="4083621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4984" y="370276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57304" y="3805014"/>
            <a:ext cx="167432" cy="1674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4984" y="418333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754984" y="4442296"/>
            <a:ext cx="428334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Upravljanje sadržajem i korisnicima</a:t>
            </a:r>
            <a:endParaRPr lang="en-US" sz="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E0C325-41B9-E468-2086-82352EB77458}"/>
              </a:ext>
            </a:extLst>
          </p:cNvPr>
          <p:cNvSpPr/>
          <p:nvPr/>
        </p:nvSpPr>
        <p:spPr>
          <a:xfrm>
            <a:off x="7956645" y="4794913"/>
            <a:ext cx="1301086" cy="432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9901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Od MVP-a do MVP+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09439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MVP — Osnova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349" y="1449065"/>
            <a:ext cx="1917353" cy="4940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2307" y="1594024"/>
            <a:ext cx="208463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/ Register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95178" y="1449065"/>
            <a:ext cx="1917427" cy="4940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40137" y="1594024"/>
            <a:ext cx="208471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Početna stranica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349" y="2063576"/>
            <a:ext cx="1917353" cy="4940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2307" y="2208535"/>
            <a:ext cx="208463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Asocijacije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95178" y="2063576"/>
            <a:ext cx="1917427" cy="4940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0137" y="2208535"/>
            <a:ext cx="208471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Rezultati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349" y="2678088"/>
            <a:ext cx="3955256" cy="4940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307" y="2823046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Osnovno bodovanje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36157" y="1124471"/>
            <a:ext cx="1573658" cy="239018"/>
          </a:xfrm>
          <a:prstGeom prst="roundRect">
            <a:avLst>
              <a:gd name="adj" fmla="val 18372"/>
            </a:avLst>
          </a:prstGeom>
          <a:solidFill>
            <a:srgbClr val="DADBF1"/>
          </a:solidFill>
          <a:ln/>
        </p:spPr>
      </p:sp>
      <p:sp>
        <p:nvSpPr>
          <p:cNvPr id="15" name="Text 13"/>
          <p:cNvSpPr/>
          <p:nvPr/>
        </p:nvSpPr>
        <p:spPr>
          <a:xfrm>
            <a:off x="4814515" y="1163613"/>
            <a:ext cx="16139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sr-Latn-ME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Rezultat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8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funkcionalan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MVP+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36157" y="1411635"/>
            <a:ext cx="23249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MVP+ — Prošireni skup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36157" y="1751261"/>
            <a:ext cx="1917353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1591" y="1886694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Zajednički pojam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73987" y="1751261"/>
            <a:ext cx="1917427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9420" y="1886694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 pripada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36157" y="2346722"/>
            <a:ext cx="1917353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1591" y="2482155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Sinonim / Antonim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73987" y="2346722"/>
            <a:ext cx="1917427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9420" y="2482155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Lanac riječi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36157" y="2942183"/>
            <a:ext cx="1917353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1591" y="3077617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Daily Challenge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73987" y="2942183"/>
            <a:ext cx="1917427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9420" y="3077617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Hint sistem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36157" y="3537645"/>
            <a:ext cx="1917353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1591" y="3673078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Rang lista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73987" y="3537645"/>
            <a:ext cx="1917427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9420" y="3673078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 korisnika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36157" y="4133106"/>
            <a:ext cx="1917353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1591" y="4268539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panel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73987" y="4133106"/>
            <a:ext cx="1917427" cy="474985"/>
          </a:xfrm>
          <a:prstGeom prst="roundRect">
            <a:avLst>
              <a:gd name="adj" fmla="val 115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9420" y="4268539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Android APK</a:t>
            </a:r>
            <a:endParaRPr lang="en-US" sz="12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1E7ED4-E581-02A6-2B5E-E8C6F16801DF}"/>
              </a:ext>
            </a:extLst>
          </p:cNvPr>
          <p:cNvSpPr/>
          <p:nvPr/>
        </p:nvSpPr>
        <p:spPr>
          <a:xfrm>
            <a:off x="7870209" y="4817660"/>
            <a:ext cx="1423916" cy="325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4072"/>
            <a:ext cx="42046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Kako funkcionišu igre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90576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990576"/>
            <a:ext cx="17659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Asocijacije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297088"/>
            <a:ext cx="130872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Korisnik dobija tragove i treba da poveže sve sa jednim konačnim pojmom. Svaki trag otkriva dio slike.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990576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990576"/>
            <a:ext cx="17659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 pripada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297088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više ponuđenih riječi, korisnik mora prepoznati onu koja logički ili semantički odstupa od ostalih.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990576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990576"/>
            <a:ext cx="17659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Lanac riječi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297088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Korisnik gradi mrežu smislenih veza oko centralne riječi, proširujući semantičku mapu korak po korak.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990576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990576"/>
            <a:ext cx="13087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Sinonim / Antonim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518544"/>
            <a:ext cx="130879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Prepoznavanje odnosa između parova riječi — da li su značenjski bliske ili suprotne po smislu.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C49965-2451-136C-826A-4BB6A75CAF79}"/>
              </a:ext>
            </a:extLst>
          </p:cNvPr>
          <p:cNvSpPr/>
          <p:nvPr/>
        </p:nvSpPr>
        <p:spPr>
          <a:xfrm>
            <a:off x="7870209" y="4817660"/>
            <a:ext cx="1423916" cy="325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82129"/>
            <a:ext cx="50085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Dizajn i korisnički interfejs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37717"/>
            <a:ext cx="4722763" cy="2323654"/>
          </a:xfrm>
          <a:prstGeom prst="roundRect">
            <a:avLst>
              <a:gd name="adj" fmla="val 25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742480"/>
            <a:ext cx="2356619" cy="1270471"/>
          </a:xfrm>
          <a:prstGeom prst="roundRect">
            <a:avLst>
              <a:gd name="adj" fmla="val 4687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188423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Card-based izgled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90750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Moderan, pregledan UI s jasno odvojenim modulima i modovima igre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57500" y="1742480"/>
            <a:ext cx="2356619" cy="127047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742480"/>
            <a:ext cx="19050" cy="1270471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188423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Responzivan dizajn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99259" y="2190750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Prilagođen mobilnom telefonu i većim ekranima — isti doživljaj, različiti uređaji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0881" y="3012951"/>
            <a:ext cx="4713238" cy="1043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3012951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4" name="Text 11"/>
          <p:cNvSpPr/>
          <p:nvPr/>
        </p:nvSpPr>
        <p:spPr>
          <a:xfrm>
            <a:off x="642640" y="31547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Intuitivna navigacija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346122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Fokus na jednostavnom toku — korisnik uvijek zna gdje se nalazi i šta treba učiniti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90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Tehnička realizacija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4211"/>
            <a:ext cx="5177582" cy="23694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8717" y="1724530"/>
            <a:ext cx="1602533" cy="143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Baza i Mobilno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8717" y="1908419"/>
            <a:ext cx="1262411" cy="229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i Capacitor Android APK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76633" y="2560623"/>
            <a:ext cx="1145333" cy="143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61361" y="2744512"/>
            <a:ext cx="1160604" cy="114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 za REST API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288717" y="2962762"/>
            <a:ext cx="1602533" cy="143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8717" y="3146652"/>
            <a:ext cx="1719611" cy="114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za brz razvoj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6119" y="3953173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 komponente su međusobno povezane i testirane u funkcionalnom okruženju.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24339" y="1279252"/>
            <a:ext cx="25230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Ključne tehničke odluke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24339" y="1642467"/>
            <a:ext cx="2628230" cy="2969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brz razvoj i moderan frontend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fleksibilan RESTful backend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relacijska baza za korisnike, igre i rezultate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Capacitor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pakovanje web aplikacije u Android APK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Lokalna pametna provjera odgovora za određene modove igre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i korisnički sistem upravljan kroz backend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54C990-63E9-D6CE-47B2-C29336BBA07B}"/>
              </a:ext>
            </a:extLst>
          </p:cNvPr>
          <p:cNvSpPr/>
          <p:nvPr/>
        </p:nvSpPr>
        <p:spPr>
          <a:xfrm>
            <a:off x="7870209" y="4817660"/>
            <a:ext cx="1423916" cy="325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0731"/>
            <a:ext cx="632021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Bodovanje, napredak i administracija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80269"/>
            <a:ext cx="212764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XP sistem i napredak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349" y="1419895"/>
            <a:ext cx="7185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349" y="1627733"/>
            <a:ext cx="395525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57349" y="1721644"/>
            <a:ext cx="212742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Igranje i odgovaranje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349" y="2046238"/>
            <a:ext cx="44124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Tačni i djelimično tačni odgovori donose XP bodove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349" y="2465561"/>
            <a:ext cx="7185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349" y="2673400"/>
            <a:ext cx="395525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57349" y="2767310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Daily bonus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349" y="3091904"/>
            <a:ext cx="39552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Dnevni izazov donosi dodatne bodove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</a:t>
            </a:r>
            <a:r>
              <a:rPr lang="sr-Latn-ME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dstiče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redov</a:t>
            </a:r>
            <a:r>
              <a:rPr lang="sr-Latn-ME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upotrebu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349" y="3712071"/>
            <a:ext cx="7185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349" y="3919910"/>
            <a:ext cx="395525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349" y="4013820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Nivoi i rang lista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349" y="4338414"/>
            <a:ext cx="44124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akumulacijom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korisnik</a:t>
            </a:r>
            <a:r>
              <a:rPr lang="sr-Latn-ME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napreduje kroz nivoe i penje se na rang listi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6157" y="1080269"/>
            <a:ext cx="26431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panel — mogućnosti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6157" y="1404863"/>
            <a:ext cx="3955256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Dodavanje, uređivanje i brisanje sadržaja igara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Pregled i upravljanje korisnicima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 XP</a:t>
            </a:r>
            <a:r>
              <a:rPr lang="sr-Latn-ME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bodova</a:t>
            </a:r>
            <a:r>
              <a:rPr lang="en-US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istorij</a:t>
            </a:r>
            <a:r>
              <a:rPr lang="sr-Latn-ME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partija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Postavljanje dnevnog izazova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Moderacija i direktne poruke korisnicima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157" y="2713062"/>
            <a:ext cx="3955256" cy="929432"/>
          </a:xfrm>
          <a:prstGeom prst="roundRect">
            <a:avLst>
              <a:gd name="adj" fmla="val 5906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29" y="2909664"/>
            <a:ext cx="163339" cy="13067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60838" y="2866206"/>
            <a:ext cx="3399904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panel omogućava potpunu kontrolu nad sadržajem i korisničkom bazom bez direktnog pristupa bazi podataka.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07D422-E31E-2036-6FDE-9A7017C59EBB}"/>
              </a:ext>
            </a:extLst>
          </p:cNvPr>
          <p:cNvSpPr/>
          <p:nvPr/>
        </p:nvSpPr>
        <p:spPr>
          <a:xfrm>
            <a:off x="7870209" y="4817660"/>
            <a:ext cx="1423916" cy="325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7062"/>
            <a:ext cx="49296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Finalni rezultat i zaključak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082650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229171"/>
            <a:ext cx="244234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Funkcionalan MVP+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1535683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Svi planirani ciljevi su realizovani — web i Android aplikacija su spremne za demo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082650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22917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🎮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Igra + edukacija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1535683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Aplikacija uspješno spaja zabavu, logiku, asocijacije i osjećaj napredovanja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731219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28777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Prostor za rast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184252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Trenutna verzija je funkcionalna i zaokružena — arhitektura je pripremljena za buduća proširenja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37720" y="4103340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Hvala na pažnji!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Association Lab — pitanja su dobrodošla.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3943871"/>
            <a:ext cx="19050" cy="772567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0A182A-0460-E3ED-655F-F0FA97157364}"/>
              </a:ext>
            </a:extLst>
          </p:cNvPr>
          <p:cNvSpPr/>
          <p:nvPr/>
        </p:nvSpPr>
        <p:spPr>
          <a:xfrm>
            <a:off x="7870209" y="4817660"/>
            <a:ext cx="1423916" cy="325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671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Danilo Sabovic</cp:lastModifiedBy>
  <cp:revision>5</cp:revision>
  <dcterms:created xsi:type="dcterms:W3CDTF">2026-05-16T17:01:46Z</dcterms:created>
  <dcterms:modified xsi:type="dcterms:W3CDTF">2026-05-16T17:33:37Z</dcterms:modified>
</cp:coreProperties>
</file>